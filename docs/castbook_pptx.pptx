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731519" y="728280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300" sz="1400">
                <a:solidFill>
                  <a:srgbClr val="D9C3A8"/>
                </a:solidFill>
              </a:defRPr>
            </a:lvl1pPr>
          </a:lstStyle>
          <a:p>
            <a:pPr/>
            <a:r>
              <a:t>PROJECT-I (AI24300)  |  MONSOON 2026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731519" y="1280160"/>
            <a:ext cx="10515601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000">
                <a:solidFill>
                  <a:srgbClr val="F8F6F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Agentic AI-Based Ebook-to-Audiobook Conversion System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31519" y="2923539"/>
            <a:ext cx="105156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000">
                <a:solidFill>
                  <a:srgbClr val="E3C9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 different voice for the narrator and every character</a:t>
            </a:r>
          </a:p>
        </p:txBody>
      </p:sp>
      <p:sp>
        <p:nvSpPr>
          <p:cNvPr id="23" name="Shape 3"/>
          <p:cNvSpPr/>
          <p:nvPr/>
        </p:nvSpPr>
        <p:spPr>
          <a:xfrm>
            <a:off x="731519" y="3931920"/>
            <a:ext cx="3383281" cy="1097281"/>
          </a:xfrm>
          <a:prstGeom prst="roundRect">
            <a:avLst>
              <a:gd name="adj" fmla="val 6667"/>
            </a:avLst>
          </a:prstGeom>
          <a:solidFill>
            <a:srgbClr val="553623"/>
          </a:solidFill>
          <a:ln w="12700">
            <a:solidFill>
              <a:srgbClr val="5536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960119" y="4239830"/>
            <a:ext cx="2926081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900">
                <a:solidFill>
                  <a:srgbClr val="F8F6F1"/>
                </a:solidFill>
              </a:defRPr>
            </a:pPr>
            <a:r>
              <a:t>Akshat Rai</a:t>
            </a:r>
          </a:p>
          <a:p>
            <a:pPr>
              <a:defRPr sz="1400">
                <a:solidFill>
                  <a:srgbClr val="D9C3A8"/>
                </a:solidFill>
              </a:defRPr>
            </a:pPr>
            <a:r>
              <a:t>BTECH/15096/24</a:t>
            </a:r>
          </a:p>
        </p:txBody>
      </p:sp>
      <p:sp>
        <p:nvSpPr>
          <p:cNvPr id="25" name="Shape 5"/>
          <p:cNvSpPr/>
          <p:nvPr/>
        </p:nvSpPr>
        <p:spPr>
          <a:xfrm>
            <a:off x="4389120" y="3931920"/>
            <a:ext cx="3383280" cy="1097281"/>
          </a:xfrm>
          <a:prstGeom prst="roundRect">
            <a:avLst>
              <a:gd name="adj" fmla="val 6667"/>
            </a:avLst>
          </a:prstGeom>
          <a:solidFill>
            <a:srgbClr val="553623"/>
          </a:solidFill>
          <a:ln w="12700">
            <a:solidFill>
              <a:srgbClr val="5536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4617720" y="4239830"/>
            <a:ext cx="2926081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900">
                <a:solidFill>
                  <a:srgbClr val="F8F6F1"/>
                </a:solidFill>
              </a:defRPr>
            </a:pPr>
            <a:r>
              <a:t>Divyanshu Bhusan</a:t>
            </a:r>
          </a:p>
          <a:p>
            <a:pPr>
              <a:defRPr sz="1400">
                <a:solidFill>
                  <a:srgbClr val="D9C3A8"/>
                </a:solidFill>
              </a:defRPr>
            </a:pPr>
            <a:r>
              <a:t>BTECH/15081/24</a:t>
            </a:r>
          </a:p>
        </p:txBody>
      </p:sp>
      <p:sp>
        <p:nvSpPr>
          <p:cNvPr id="27" name="Shape 7"/>
          <p:cNvSpPr/>
          <p:nvPr/>
        </p:nvSpPr>
        <p:spPr>
          <a:xfrm>
            <a:off x="8046719" y="3931920"/>
            <a:ext cx="3383281" cy="1097281"/>
          </a:xfrm>
          <a:prstGeom prst="roundRect">
            <a:avLst>
              <a:gd name="adj" fmla="val 6667"/>
            </a:avLst>
          </a:prstGeom>
          <a:solidFill>
            <a:srgbClr val="553623"/>
          </a:solidFill>
          <a:ln w="12700">
            <a:solidFill>
              <a:srgbClr val="55362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8275319" y="4239830"/>
            <a:ext cx="2926081" cy="481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900">
                <a:solidFill>
                  <a:srgbClr val="F8F6F1"/>
                </a:solidFill>
              </a:defRPr>
            </a:pPr>
            <a:r>
              <a:t>Guide: Dr. Naiyar Iqbal</a:t>
            </a:r>
          </a:p>
          <a:p>
            <a:pPr>
              <a:defRPr sz="1400">
                <a:solidFill>
                  <a:srgbClr val="D9C3A8"/>
                </a:solidFill>
              </a:defRPr>
            </a:pPr>
            <a:r>
              <a:t>Dept. of CSE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731519" y="5848920"/>
            <a:ext cx="105156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9C3A8"/>
                </a:solidFill>
              </a:defRPr>
            </a:lvl1pPr>
          </a:lstStyle>
          <a:p>
            <a:pPr/>
            <a:r>
              <a:t>B.Tech.-V CSE (AIML)  |  Birla Institute of Technology, Mesra, Patna Campus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548639" y="287020"/>
            <a:ext cx="11064242" cy="88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problem: every character sounds like the same person</a:t>
            </a:r>
          </a:p>
        </p:txBody>
      </p:sp>
      <p:sp>
        <p:nvSpPr>
          <p:cNvPr id="32" name="Shape 1"/>
          <p:cNvSpPr/>
          <p:nvPr/>
        </p:nvSpPr>
        <p:spPr>
          <a:xfrm>
            <a:off x="548640" y="137160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2"/>
          <p:cNvSpPr txBox="1"/>
          <p:nvPr/>
        </p:nvSpPr>
        <p:spPr>
          <a:xfrm>
            <a:off x="731519" y="1481327"/>
            <a:ext cx="6400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One voice for the whole book</a:t>
            </a:r>
          </a:p>
        </p:txBody>
      </p:sp>
      <p:sp>
        <p:nvSpPr>
          <p:cNvPr id="34" name="Text 3"/>
          <p:cNvSpPr txBox="1"/>
          <p:nvPr/>
        </p:nvSpPr>
        <p:spPr>
          <a:xfrm>
            <a:off x="731519" y="1965960"/>
            <a:ext cx="64008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Today’s converters read the entire book in a single voice, so a three-person conversation sounds like one person.</a:t>
            </a:r>
          </a:p>
        </p:txBody>
      </p:sp>
      <p:sp>
        <p:nvSpPr>
          <p:cNvPr id="35" name="Shape 4"/>
          <p:cNvSpPr/>
          <p:nvPr/>
        </p:nvSpPr>
        <p:spPr>
          <a:xfrm>
            <a:off x="548640" y="297180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5"/>
          <p:cNvSpPr txBox="1"/>
          <p:nvPr/>
        </p:nvSpPr>
        <p:spPr>
          <a:xfrm>
            <a:off x="731519" y="3081527"/>
            <a:ext cx="6400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Real ebooks are messy</a:t>
            </a:r>
          </a:p>
        </p:txBody>
      </p:sp>
      <p:sp>
        <p:nvSpPr>
          <p:cNvPr id="37" name="Text 6"/>
          <p:cNvSpPr txBox="1"/>
          <p:nvPr/>
        </p:nvSpPr>
        <p:spPr>
          <a:xfrm>
            <a:off x="731519" y="3566159"/>
            <a:ext cx="64008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Different formats, headers, page numbers, chapters and dialogue. Simple text-to-speech turns that into unnatural audio and loses the structure.</a:t>
            </a:r>
          </a:p>
        </p:txBody>
      </p:sp>
      <p:sp>
        <p:nvSpPr>
          <p:cNvPr id="38" name="Shape 7"/>
          <p:cNvSpPr/>
          <p:nvPr/>
        </p:nvSpPr>
        <p:spPr>
          <a:xfrm>
            <a:off x="548640" y="457200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8"/>
          <p:cNvSpPr txBox="1"/>
          <p:nvPr/>
        </p:nvSpPr>
        <p:spPr>
          <a:xfrm>
            <a:off x="731519" y="4681728"/>
            <a:ext cx="64008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Indian-language audiobooks are hard</a:t>
            </a:r>
          </a:p>
        </p:txBody>
      </p:sp>
      <p:sp>
        <p:nvSpPr>
          <p:cNvPr id="40" name="Text 9"/>
          <p:cNvSpPr txBox="1"/>
          <p:nvPr/>
        </p:nvSpPr>
        <p:spPr>
          <a:xfrm>
            <a:off x="731519" y="5166359"/>
            <a:ext cx="64008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Language detection, scripts, pronunciation and voice availability all need extra care.</a:t>
            </a:r>
          </a:p>
        </p:txBody>
      </p:sp>
      <p:sp>
        <p:nvSpPr>
          <p:cNvPr id="41" name="Shape 10"/>
          <p:cNvSpPr/>
          <p:nvPr/>
        </p:nvSpPr>
        <p:spPr>
          <a:xfrm>
            <a:off x="7680959" y="1371600"/>
            <a:ext cx="3931921" cy="4709160"/>
          </a:xfrm>
          <a:prstGeom prst="roundRect">
            <a:avLst>
              <a:gd name="adj" fmla="val 1860"/>
            </a:avLst>
          </a:prstGeom>
          <a:solidFill>
            <a:srgbClr val="3B2416"/>
          </a:solidFill>
          <a:ln w="12700">
            <a:solidFill>
              <a:srgbClr val="3B24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11"/>
          <p:cNvSpPr txBox="1"/>
          <p:nvPr/>
        </p:nvSpPr>
        <p:spPr>
          <a:xfrm>
            <a:off x="7955280" y="1645920"/>
            <a:ext cx="3383281" cy="1634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200"/>
              </a:spcBef>
              <a:defRPr b="1" sz="1600">
                <a:solidFill>
                  <a:srgbClr val="E3C9A6"/>
                </a:solidFill>
              </a:defRPr>
            </a:pPr>
            <a:r>
              <a:t>What the listener hears today</a:t>
            </a:r>
          </a:p>
          <a:p>
            <a:pPr>
              <a:spcBef>
                <a:spcPts val="600"/>
              </a:spcBef>
              <a:defRPr sz="1700">
                <a:solidFill>
                  <a:srgbClr val="F8F6F1"/>
                </a:solidFill>
              </a:defRPr>
            </a:pPr>
            <a:r>
              <a:t>“You lied to me,” she said.</a:t>
            </a:r>
            <a:endParaRPr sz="1600"/>
          </a:p>
          <a:p>
            <a:pPr>
              <a:spcBef>
                <a:spcPts val="1600"/>
              </a:spcBef>
              <a:defRPr sz="1700">
                <a:solidFill>
                  <a:srgbClr val="F8F6F1"/>
                </a:solidFill>
              </a:defRPr>
            </a:pPr>
            <a:r>
              <a:t>“I did not,” he answered.</a:t>
            </a:r>
            <a:endParaRPr sz="1600"/>
          </a:p>
          <a:p>
            <a:pPr>
              <a:defRPr i="1" sz="1500">
                <a:solidFill>
                  <a:srgbClr val="D9C3A8"/>
                </a:solidFill>
              </a:defRPr>
            </a:pPr>
            <a:r>
              <a:t>One voice reads all of it, including the “she said” tags.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 txBox="1"/>
          <p:nvPr/>
        </p:nvSpPr>
        <p:spPr>
          <a:xfrm>
            <a:off x="548639" y="509270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Project scope</a:t>
            </a:r>
          </a:p>
        </p:txBody>
      </p:sp>
      <p:sp>
        <p:nvSpPr>
          <p:cNvPr id="45" name="Shape 1"/>
          <p:cNvSpPr/>
          <p:nvPr/>
        </p:nvSpPr>
        <p:spPr>
          <a:xfrm>
            <a:off x="548640" y="1371600"/>
            <a:ext cx="6035041" cy="4754880"/>
          </a:xfrm>
          <a:prstGeom prst="roundRect">
            <a:avLst>
              <a:gd name="adj" fmla="val 153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2"/>
          <p:cNvSpPr txBox="1"/>
          <p:nvPr/>
        </p:nvSpPr>
        <p:spPr>
          <a:xfrm>
            <a:off x="731520" y="1481327"/>
            <a:ext cx="566928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Project-I delivers (Phase A)</a:t>
            </a:r>
          </a:p>
        </p:txBody>
      </p:sp>
      <p:sp>
        <p:nvSpPr>
          <p:cNvPr id="47" name="Text 3"/>
          <p:cNvSpPr txBox="1"/>
          <p:nvPr/>
        </p:nvSpPr>
        <p:spPr>
          <a:xfrm>
            <a:off x="731520" y="1965960"/>
            <a:ext cx="5669280" cy="2497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Input: EPUB, TXT, DOCX, PDF (text layer)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Chapter detection and chapter-wise output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Local LLM finds who speaks each line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Character registry and voice casting, with a review step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Two voice engines: XTTS-v2 and VITS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English first, runs fully offline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Output: chapter MP3s plus one M4B with chapter markers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500">
                <a:solidFill>
                  <a:srgbClr val="2B1D14"/>
                </a:solidFill>
              </a:defRPr>
            </a:pPr>
            <a:r>
              <a:t>Resume after a crash; web interface</a:t>
            </a:r>
          </a:p>
        </p:txBody>
      </p:sp>
      <p:sp>
        <p:nvSpPr>
          <p:cNvPr id="48" name="Shape 4"/>
          <p:cNvSpPr/>
          <p:nvPr/>
        </p:nvSpPr>
        <p:spPr>
          <a:xfrm>
            <a:off x="6858000" y="1371600"/>
            <a:ext cx="4754880" cy="4754880"/>
          </a:xfrm>
          <a:prstGeom prst="roundRect">
            <a:avLst>
              <a:gd name="adj" fmla="val 1538"/>
            </a:avLst>
          </a:prstGeom>
          <a:solidFill>
            <a:srgbClr val="E4D6C4"/>
          </a:solidFill>
          <a:ln w="12700">
            <a:solidFill>
              <a:srgbClr val="E4D6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5"/>
          <p:cNvSpPr txBox="1"/>
          <p:nvPr/>
        </p:nvSpPr>
        <p:spPr>
          <a:xfrm>
            <a:off x="7040880" y="1481327"/>
            <a:ext cx="43891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Later phases</a:t>
            </a:r>
          </a:p>
        </p:txBody>
      </p:sp>
      <p:sp>
        <p:nvSpPr>
          <p:cNvPr id="50" name="Text 6"/>
          <p:cNvSpPr txBox="1"/>
          <p:nvPr/>
        </p:nvSpPr>
        <p:spPr>
          <a:xfrm>
            <a:off x="7040880" y="1965960"/>
            <a:ext cx="4389121" cy="1100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2B1D14"/>
                </a:solidFill>
              </a:defRPr>
            </a:pPr>
            <a:r>
              <a:t>B: </a:t>
            </a:r>
            <a:r>
              <a:rPr b="0"/>
              <a:t>OCR for scanned pages; MOBI, AZW3, FB2</a:t>
            </a:r>
          </a:p>
          <a:p>
            <a:pPr>
              <a:defRPr b="1" sz="1500">
                <a:solidFill>
                  <a:srgbClr val="2B1D14"/>
                </a:solidFill>
              </a:defRPr>
            </a:pPr>
            <a:r>
              <a:t>C: </a:t>
            </a:r>
            <a:r>
              <a:rPr b="0"/>
              <a:t>Hindi first, then Bengali, Marathi, Telugu, Tamil with other engines</a:t>
            </a:r>
          </a:p>
          <a:p>
            <a:pPr>
              <a:defRPr b="1" sz="1500">
                <a:solidFill>
                  <a:srgbClr val="2B1D14"/>
                </a:solidFill>
              </a:defRPr>
            </a:pPr>
            <a:r>
              <a:t>D: </a:t>
            </a:r>
            <a:r>
              <a:rPr b="0"/>
              <a:t>Voice cloning, more engines, pause and voice tags, more output formats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 txBox="1"/>
          <p:nvPr/>
        </p:nvSpPr>
        <p:spPr>
          <a:xfrm>
            <a:off x="548639" y="509270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Our approach: a radio-play studio, run automatically</a:t>
            </a:r>
          </a:p>
        </p:txBody>
      </p:sp>
      <p:sp>
        <p:nvSpPr>
          <p:cNvPr id="53" name="Shape 1"/>
          <p:cNvSpPr/>
          <p:nvPr/>
        </p:nvSpPr>
        <p:spPr>
          <a:xfrm>
            <a:off x="548640" y="1463039"/>
            <a:ext cx="2651761" cy="3108961"/>
          </a:xfrm>
          <a:prstGeom prst="roundRect">
            <a:avLst>
              <a:gd name="adj" fmla="val 275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2"/>
          <p:cNvSpPr txBox="1"/>
          <p:nvPr/>
        </p:nvSpPr>
        <p:spPr>
          <a:xfrm>
            <a:off x="731519" y="1572767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1. Script editor</a:t>
            </a:r>
          </a:p>
        </p:txBody>
      </p:sp>
      <p:sp>
        <p:nvSpPr>
          <p:cNvPr id="55" name="Text 3"/>
          <p:cNvSpPr txBox="1"/>
          <p:nvPr/>
        </p:nvSpPr>
        <p:spPr>
          <a:xfrm>
            <a:off x="731519" y="2057400"/>
            <a:ext cx="2286001" cy="872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A local LLM marks who speaks each quoted line. Dialogue tags like “she said” go to the narrator.</a:t>
            </a:r>
          </a:p>
        </p:txBody>
      </p:sp>
      <p:sp>
        <p:nvSpPr>
          <p:cNvPr id="56" name="Shape 4"/>
          <p:cNvSpPr/>
          <p:nvPr/>
        </p:nvSpPr>
        <p:spPr>
          <a:xfrm>
            <a:off x="3383279" y="1463039"/>
            <a:ext cx="2651761" cy="3108961"/>
          </a:xfrm>
          <a:prstGeom prst="roundRect">
            <a:avLst>
              <a:gd name="adj" fmla="val 275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Text 5"/>
          <p:cNvSpPr txBox="1"/>
          <p:nvPr/>
        </p:nvSpPr>
        <p:spPr>
          <a:xfrm>
            <a:off x="3566159" y="1572767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2. Casting director</a:t>
            </a:r>
          </a:p>
        </p:txBody>
      </p:sp>
      <p:sp>
        <p:nvSpPr>
          <p:cNvPr id="58" name="Text 6"/>
          <p:cNvSpPr txBox="1"/>
          <p:nvPr/>
        </p:nvSpPr>
        <p:spPr>
          <a:xfrm>
            <a:off x="3566159" y="2057400"/>
            <a:ext cx="2286001" cy="872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Each character gets one voice, kept the same in every chapter. The user can review and change it.</a:t>
            </a:r>
          </a:p>
        </p:txBody>
      </p:sp>
      <p:sp>
        <p:nvSpPr>
          <p:cNvPr id="59" name="Shape 7"/>
          <p:cNvSpPr/>
          <p:nvPr/>
        </p:nvSpPr>
        <p:spPr>
          <a:xfrm>
            <a:off x="6217920" y="1463039"/>
            <a:ext cx="2651761" cy="3108961"/>
          </a:xfrm>
          <a:prstGeom prst="roundRect">
            <a:avLst>
              <a:gd name="adj" fmla="val 275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8"/>
          <p:cNvSpPr txBox="1"/>
          <p:nvPr/>
        </p:nvSpPr>
        <p:spPr>
          <a:xfrm>
            <a:off x="6400800" y="1572767"/>
            <a:ext cx="2286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3. Actors</a:t>
            </a:r>
          </a:p>
        </p:txBody>
      </p:sp>
      <p:sp>
        <p:nvSpPr>
          <p:cNvPr id="61" name="Text 9"/>
          <p:cNvSpPr txBox="1"/>
          <p:nvPr/>
        </p:nvSpPr>
        <p:spPr>
          <a:xfrm>
            <a:off x="6400800" y="2057400"/>
            <a:ext cx="2286000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A text-to-speech engine records each line in its character’s voice.</a:t>
            </a:r>
          </a:p>
        </p:txBody>
      </p:sp>
      <p:sp>
        <p:nvSpPr>
          <p:cNvPr id="62" name="Shape 10"/>
          <p:cNvSpPr/>
          <p:nvPr/>
        </p:nvSpPr>
        <p:spPr>
          <a:xfrm>
            <a:off x="9052559" y="1463039"/>
            <a:ext cx="2651761" cy="3108961"/>
          </a:xfrm>
          <a:prstGeom prst="roundRect">
            <a:avLst>
              <a:gd name="adj" fmla="val 275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1"/>
          <p:cNvSpPr txBox="1"/>
          <p:nvPr/>
        </p:nvSpPr>
        <p:spPr>
          <a:xfrm>
            <a:off x="9235440" y="1572767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4. Sound engineer</a:t>
            </a:r>
          </a:p>
        </p:txBody>
      </p:sp>
      <p:sp>
        <p:nvSpPr>
          <p:cNvPr id="64" name="Text 12"/>
          <p:cNvSpPr txBox="1"/>
          <p:nvPr/>
        </p:nvSpPr>
        <p:spPr>
          <a:xfrm>
            <a:off x="9235440" y="2057400"/>
            <a:ext cx="2286001" cy="872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Pauses, matched volume, chapter files and an audiobook with chapter markers.</a:t>
            </a:r>
          </a:p>
        </p:txBody>
      </p:sp>
      <p:sp>
        <p:nvSpPr>
          <p:cNvPr id="65" name="Shape 13"/>
          <p:cNvSpPr/>
          <p:nvPr/>
        </p:nvSpPr>
        <p:spPr>
          <a:xfrm>
            <a:off x="548640" y="4892040"/>
            <a:ext cx="11064241" cy="1097281"/>
          </a:xfrm>
          <a:prstGeom prst="roundRect">
            <a:avLst>
              <a:gd name="adj" fmla="val 6667"/>
            </a:avLst>
          </a:prstGeom>
          <a:solidFill>
            <a:srgbClr val="3B2416"/>
          </a:solidFill>
          <a:ln w="12700">
            <a:solidFill>
              <a:srgbClr val="3B24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4"/>
          <p:cNvSpPr txBox="1"/>
          <p:nvPr/>
        </p:nvSpPr>
        <p:spPr>
          <a:xfrm>
            <a:off x="731519" y="5001767"/>
            <a:ext cx="10698482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E3C9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Runs on the user’s own machine</a:t>
            </a:r>
          </a:p>
        </p:txBody>
      </p:sp>
      <p:sp>
        <p:nvSpPr>
          <p:cNvPr id="67" name="Text 15"/>
          <p:cNvSpPr txBox="1"/>
          <p:nvPr/>
        </p:nvSpPr>
        <p:spPr>
          <a:xfrm>
            <a:off x="731519" y="5486400"/>
            <a:ext cx="10698482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F8F6F1"/>
                </a:solidFill>
              </a:defRPr>
            </a:lvl1pPr>
          </a:lstStyle>
          <a:p>
            <a:pPr/>
            <a:r>
              <a:t>No cloud needed, so books stay private. A stopped run resumes where it left off.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 txBox="1"/>
          <p:nvPr/>
        </p:nvSpPr>
        <p:spPr>
          <a:xfrm>
            <a:off x="548639" y="509270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Tech stack</a:t>
            </a:r>
          </a:p>
        </p:txBody>
      </p:sp>
      <p:sp>
        <p:nvSpPr>
          <p:cNvPr id="70" name="Shape 1"/>
          <p:cNvSpPr/>
          <p:nvPr/>
        </p:nvSpPr>
        <p:spPr>
          <a:xfrm>
            <a:off x="548640" y="1463039"/>
            <a:ext cx="2651761" cy="2103122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"/>
          <p:cNvSpPr txBox="1"/>
          <p:nvPr/>
        </p:nvSpPr>
        <p:spPr>
          <a:xfrm>
            <a:off x="731519" y="1572767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Web interface</a:t>
            </a:r>
          </a:p>
        </p:txBody>
      </p:sp>
      <p:sp>
        <p:nvSpPr>
          <p:cNvPr id="72" name="Text 3"/>
          <p:cNvSpPr txBox="1"/>
          <p:nvPr/>
        </p:nvSpPr>
        <p:spPr>
          <a:xfrm>
            <a:off x="731519" y="2057400"/>
            <a:ext cx="22860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React.js</a:t>
            </a:r>
          </a:p>
        </p:txBody>
      </p:sp>
      <p:sp>
        <p:nvSpPr>
          <p:cNvPr id="73" name="Shape 4"/>
          <p:cNvSpPr/>
          <p:nvPr/>
        </p:nvSpPr>
        <p:spPr>
          <a:xfrm>
            <a:off x="3383279" y="1463039"/>
            <a:ext cx="2651761" cy="2103122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Text 5"/>
          <p:cNvSpPr txBox="1"/>
          <p:nvPr/>
        </p:nvSpPr>
        <p:spPr>
          <a:xfrm>
            <a:off x="3566159" y="1572767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75" name="Text 6"/>
          <p:cNvSpPr txBox="1"/>
          <p:nvPr/>
        </p:nvSpPr>
        <p:spPr>
          <a:xfrm>
            <a:off x="3566159" y="2057400"/>
            <a:ext cx="22860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Python + FastAPI</a:t>
            </a:r>
          </a:p>
        </p:txBody>
      </p:sp>
      <p:sp>
        <p:nvSpPr>
          <p:cNvPr id="76" name="Shape 7"/>
          <p:cNvSpPr/>
          <p:nvPr/>
        </p:nvSpPr>
        <p:spPr>
          <a:xfrm>
            <a:off x="6217920" y="1463039"/>
            <a:ext cx="2651761" cy="2103122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8"/>
          <p:cNvSpPr txBox="1"/>
          <p:nvPr/>
        </p:nvSpPr>
        <p:spPr>
          <a:xfrm>
            <a:off x="6400800" y="1572767"/>
            <a:ext cx="2286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Text analysis</a:t>
            </a:r>
          </a:p>
        </p:txBody>
      </p:sp>
      <p:sp>
        <p:nvSpPr>
          <p:cNvPr id="78" name="Text 9"/>
          <p:cNvSpPr txBox="1"/>
          <p:nvPr/>
        </p:nvSpPr>
        <p:spPr>
          <a:xfrm>
            <a:off x="6400800" y="2057400"/>
            <a:ext cx="2286000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spaCy for sentences and chapters</a:t>
            </a:r>
          </a:p>
        </p:txBody>
      </p:sp>
      <p:sp>
        <p:nvSpPr>
          <p:cNvPr id="79" name="Shape 10"/>
          <p:cNvSpPr/>
          <p:nvPr/>
        </p:nvSpPr>
        <p:spPr>
          <a:xfrm>
            <a:off x="9052559" y="1463039"/>
            <a:ext cx="2651761" cy="2103122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1"/>
          <p:cNvSpPr txBox="1"/>
          <p:nvPr/>
        </p:nvSpPr>
        <p:spPr>
          <a:xfrm>
            <a:off x="9235440" y="1572767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Speaker detection</a:t>
            </a:r>
          </a:p>
        </p:txBody>
      </p:sp>
      <p:sp>
        <p:nvSpPr>
          <p:cNvPr id="81" name="Text 12"/>
          <p:cNvSpPr txBox="1"/>
          <p:nvPr/>
        </p:nvSpPr>
        <p:spPr>
          <a:xfrm>
            <a:off x="9235440" y="2057400"/>
            <a:ext cx="22860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Llama 3.2 3B, run locally with Ollama</a:t>
            </a:r>
          </a:p>
        </p:txBody>
      </p:sp>
      <p:sp>
        <p:nvSpPr>
          <p:cNvPr id="82" name="Shape 13"/>
          <p:cNvSpPr/>
          <p:nvPr/>
        </p:nvSpPr>
        <p:spPr>
          <a:xfrm>
            <a:off x="548640" y="3840479"/>
            <a:ext cx="2651761" cy="2103121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14"/>
          <p:cNvSpPr txBox="1"/>
          <p:nvPr/>
        </p:nvSpPr>
        <p:spPr>
          <a:xfrm>
            <a:off x="731519" y="3950208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Voices</a:t>
            </a:r>
          </a:p>
        </p:txBody>
      </p:sp>
      <p:sp>
        <p:nvSpPr>
          <p:cNvPr id="84" name="Text 15"/>
          <p:cNvSpPr txBox="1"/>
          <p:nvPr/>
        </p:nvSpPr>
        <p:spPr>
          <a:xfrm>
            <a:off x="731519" y="4434840"/>
            <a:ext cx="2286001" cy="6437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XTTS-v2 (quality) and VITS-VCTK (many voices, low resource)</a:t>
            </a:r>
          </a:p>
        </p:txBody>
      </p:sp>
      <p:sp>
        <p:nvSpPr>
          <p:cNvPr id="85" name="Shape 16"/>
          <p:cNvSpPr/>
          <p:nvPr/>
        </p:nvSpPr>
        <p:spPr>
          <a:xfrm>
            <a:off x="3383279" y="3840479"/>
            <a:ext cx="2651761" cy="2103121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7"/>
          <p:cNvSpPr txBox="1"/>
          <p:nvPr/>
        </p:nvSpPr>
        <p:spPr>
          <a:xfrm>
            <a:off x="3566159" y="3950208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Audio</a:t>
            </a:r>
          </a:p>
        </p:txBody>
      </p:sp>
      <p:sp>
        <p:nvSpPr>
          <p:cNvPr id="87" name="Text 18"/>
          <p:cNvSpPr txBox="1"/>
          <p:nvPr/>
        </p:nvSpPr>
        <p:spPr>
          <a:xfrm>
            <a:off x="3566159" y="4434840"/>
            <a:ext cx="22860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FFmpeg: MP3, M4B, chapter markers</a:t>
            </a:r>
          </a:p>
        </p:txBody>
      </p:sp>
      <p:sp>
        <p:nvSpPr>
          <p:cNvPr id="88" name="Shape 19"/>
          <p:cNvSpPr/>
          <p:nvPr/>
        </p:nvSpPr>
        <p:spPr>
          <a:xfrm>
            <a:off x="6217920" y="3840479"/>
            <a:ext cx="2651761" cy="2103121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20"/>
          <p:cNvSpPr txBox="1"/>
          <p:nvPr/>
        </p:nvSpPr>
        <p:spPr>
          <a:xfrm>
            <a:off x="6400800" y="3950208"/>
            <a:ext cx="22860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Storage</a:t>
            </a:r>
          </a:p>
        </p:txBody>
      </p:sp>
      <p:sp>
        <p:nvSpPr>
          <p:cNvPr id="90" name="Text 21"/>
          <p:cNvSpPr txBox="1"/>
          <p:nvPr/>
        </p:nvSpPr>
        <p:spPr>
          <a:xfrm>
            <a:off x="6400800" y="4434840"/>
            <a:ext cx="228600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SQLite job state for resume</a:t>
            </a:r>
          </a:p>
        </p:txBody>
      </p:sp>
      <p:sp>
        <p:nvSpPr>
          <p:cNvPr id="91" name="Shape 22"/>
          <p:cNvSpPr/>
          <p:nvPr/>
        </p:nvSpPr>
        <p:spPr>
          <a:xfrm>
            <a:off x="9052559" y="3840479"/>
            <a:ext cx="2651761" cy="2103121"/>
          </a:xfrm>
          <a:prstGeom prst="roundRect">
            <a:avLst>
              <a:gd name="adj" fmla="val 3478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23"/>
          <p:cNvSpPr txBox="1"/>
          <p:nvPr/>
        </p:nvSpPr>
        <p:spPr>
          <a:xfrm>
            <a:off x="9235440" y="3950208"/>
            <a:ext cx="22860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Orchestration</a:t>
            </a:r>
          </a:p>
        </p:txBody>
      </p:sp>
      <p:sp>
        <p:nvSpPr>
          <p:cNvPr id="93" name="Text 24"/>
          <p:cNvSpPr txBox="1"/>
          <p:nvPr/>
        </p:nvSpPr>
        <p:spPr>
          <a:xfrm>
            <a:off x="9235440" y="4434840"/>
            <a:ext cx="2286001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2B1D14"/>
                </a:solidFill>
              </a:defRPr>
            </a:lvl1pPr>
          </a:lstStyle>
          <a:p>
            <a:pPr/>
            <a:r>
              <a:t>Plain state machine; LangGraph evaluated</a:t>
            </a:r>
          </a:p>
        </p:txBody>
      </p:sp>
      <p:sp>
        <p:nvSpPr>
          <p:cNvPr id="94" name="Text 25"/>
          <p:cNvSpPr txBox="1"/>
          <p:nvPr/>
        </p:nvSpPr>
        <p:spPr>
          <a:xfrm>
            <a:off x="548639" y="6317419"/>
            <a:ext cx="110642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6B5647"/>
                </a:solidFill>
              </a:defRPr>
            </a:lvl1pPr>
          </a:lstStyle>
          <a:p>
            <a:pPr/>
            <a:r>
              <a:t>XTTS-v2 is licensed for non-commercial use. We keep each engine behind one adapter, so it can be swapped.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 txBox="1"/>
          <p:nvPr/>
        </p:nvSpPr>
        <p:spPr>
          <a:xfrm>
            <a:off x="548639" y="509270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it works: from raw text to a cast of voices</a:t>
            </a:r>
          </a:p>
        </p:txBody>
      </p:sp>
      <p:sp>
        <p:nvSpPr>
          <p:cNvPr id="97" name="Text 1"/>
          <p:cNvSpPr txBox="1"/>
          <p:nvPr/>
        </p:nvSpPr>
        <p:spPr>
          <a:xfrm>
            <a:off x="548639" y="1358463"/>
            <a:ext cx="1106424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600">
                <a:solidFill>
                  <a:srgbClr val="2B1D14"/>
                </a:solidFill>
              </a:defRPr>
            </a:lvl1pPr>
          </a:lstStyle>
          <a:p>
            <a:pPr/>
            <a:r>
              <a:t>Input: Mira set the lamp down. “You lied to me,” she said. “I did not,” Tomas answered.</a:t>
            </a:r>
          </a:p>
        </p:txBody>
      </p:sp>
      <p:graphicFrame>
        <p:nvGraphicFramePr>
          <p:cNvPr id="98" name="Table 0"/>
          <p:cNvGraphicFramePr/>
          <p:nvPr/>
        </p:nvGraphicFramePr>
        <p:xfrm>
          <a:off x="548640" y="1828800"/>
          <a:ext cx="11064241" cy="230428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57784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2B1D14"/>
                          </a:solidFill>
                        </a:rPr>
                        <a:t>Line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2B1D14"/>
                          </a:solidFill>
                        </a:rPr>
                        <a:t>Speaker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500">
                          <a:solidFill>
                            <a:srgbClr val="2B1D14"/>
                          </a:solidFill>
                        </a:rPr>
                        <a:t>Voice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EFE6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Mira set the lamp down.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Narrator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Narrator voice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You lied to me,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Mira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Voice A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she said.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Narrator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Narrator voice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I did not,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Tomas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Voice B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Tomas answered.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Narrator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500">
                          <a:solidFill>
                            <a:srgbClr val="2B1D14"/>
                          </a:solidFill>
                        </a:rPr>
                        <a:t>Narrator voice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99" name="Shape 2"/>
          <p:cNvSpPr/>
          <p:nvPr/>
        </p:nvSpPr>
        <p:spPr>
          <a:xfrm>
            <a:off x="548640" y="4937759"/>
            <a:ext cx="1691640" cy="822961"/>
          </a:xfrm>
          <a:prstGeom prst="roundRect">
            <a:avLst>
              <a:gd name="adj" fmla="val 888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3"/>
          <p:cNvSpPr txBox="1"/>
          <p:nvPr/>
        </p:nvSpPr>
        <p:spPr>
          <a:xfrm>
            <a:off x="548640" y="5203760"/>
            <a:ext cx="1691640" cy="29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1400">
                <a:solidFill>
                  <a:srgbClr val="2B1D14"/>
                </a:solidFill>
              </a:defRPr>
            </a:lvl1pPr>
          </a:lstStyle>
          <a:p>
            <a:pPr/>
            <a:r>
              <a:t>1. Import</a:t>
            </a:r>
          </a:p>
        </p:txBody>
      </p:sp>
      <p:sp>
        <p:nvSpPr>
          <p:cNvPr id="101" name="Shape 4"/>
          <p:cNvSpPr/>
          <p:nvPr/>
        </p:nvSpPr>
        <p:spPr>
          <a:xfrm>
            <a:off x="2423160" y="4937759"/>
            <a:ext cx="1691640" cy="822961"/>
          </a:xfrm>
          <a:prstGeom prst="roundRect">
            <a:avLst>
              <a:gd name="adj" fmla="val 888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5"/>
          <p:cNvSpPr txBox="1"/>
          <p:nvPr/>
        </p:nvSpPr>
        <p:spPr>
          <a:xfrm>
            <a:off x="2423160" y="5203760"/>
            <a:ext cx="1691640" cy="29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1400">
                <a:solidFill>
                  <a:srgbClr val="2B1D14"/>
                </a:solidFill>
              </a:defRPr>
            </a:lvl1pPr>
          </a:lstStyle>
          <a:p>
            <a:pPr/>
            <a:r>
              <a:t>2. Split chapters</a:t>
            </a:r>
          </a:p>
        </p:txBody>
      </p:sp>
      <p:sp>
        <p:nvSpPr>
          <p:cNvPr id="103" name="Shape 6"/>
          <p:cNvSpPr/>
          <p:nvPr/>
        </p:nvSpPr>
        <p:spPr>
          <a:xfrm>
            <a:off x="4297679" y="4937759"/>
            <a:ext cx="1691641" cy="822961"/>
          </a:xfrm>
          <a:prstGeom prst="roundRect">
            <a:avLst>
              <a:gd name="adj" fmla="val 888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7"/>
          <p:cNvSpPr txBox="1"/>
          <p:nvPr/>
        </p:nvSpPr>
        <p:spPr>
          <a:xfrm>
            <a:off x="4297679" y="5203760"/>
            <a:ext cx="1691641" cy="29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1400">
                <a:solidFill>
                  <a:srgbClr val="2B1D14"/>
                </a:solidFill>
              </a:defRPr>
            </a:lvl1pPr>
          </a:lstStyle>
          <a:p>
            <a:pPr/>
            <a:r>
              <a:t>3. Find speakers</a:t>
            </a:r>
          </a:p>
        </p:txBody>
      </p:sp>
      <p:sp>
        <p:nvSpPr>
          <p:cNvPr id="105" name="Shape 8"/>
          <p:cNvSpPr/>
          <p:nvPr/>
        </p:nvSpPr>
        <p:spPr>
          <a:xfrm>
            <a:off x="6172200" y="4937759"/>
            <a:ext cx="1691640" cy="822961"/>
          </a:xfrm>
          <a:prstGeom prst="roundRect">
            <a:avLst>
              <a:gd name="adj" fmla="val 8889"/>
            </a:avLst>
          </a:prstGeom>
          <a:solidFill>
            <a:srgbClr val="7B4A2A"/>
          </a:solidFill>
          <a:ln w="12700">
            <a:solidFill>
              <a:srgbClr val="7B4A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9"/>
          <p:cNvSpPr txBox="1"/>
          <p:nvPr/>
        </p:nvSpPr>
        <p:spPr>
          <a:xfrm>
            <a:off x="6172200" y="5203760"/>
            <a:ext cx="1691640" cy="29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1400">
                <a:solidFill>
                  <a:srgbClr val="F8F6F1"/>
                </a:solidFill>
              </a:defRPr>
            </a:lvl1pPr>
          </a:lstStyle>
          <a:p>
            <a:pPr/>
            <a:r>
              <a:t>4. Cast voices</a:t>
            </a:r>
          </a:p>
        </p:txBody>
      </p:sp>
      <p:sp>
        <p:nvSpPr>
          <p:cNvPr id="107" name="Shape 10"/>
          <p:cNvSpPr/>
          <p:nvPr/>
        </p:nvSpPr>
        <p:spPr>
          <a:xfrm>
            <a:off x="8046719" y="4937759"/>
            <a:ext cx="1691641" cy="822961"/>
          </a:xfrm>
          <a:prstGeom prst="roundRect">
            <a:avLst>
              <a:gd name="adj" fmla="val 888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11"/>
          <p:cNvSpPr txBox="1"/>
          <p:nvPr/>
        </p:nvSpPr>
        <p:spPr>
          <a:xfrm>
            <a:off x="8046719" y="5203760"/>
            <a:ext cx="1691641" cy="29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1400">
                <a:solidFill>
                  <a:srgbClr val="2B1D14"/>
                </a:solidFill>
              </a:defRPr>
            </a:lvl1pPr>
          </a:lstStyle>
          <a:p>
            <a:pPr/>
            <a:r>
              <a:t>5. Speak</a:t>
            </a:r>
          </a:p>
        </p:txBody>
      </p:sp>
      <p:sp>
        <p:nvSpPr>
          <p:cNvPr id="109" name="Shape 12"/>
          <p:cNvSpPr/>
          <p:nvPr/>
        </p:nvSpPr>
        <p:spPr>
          <a:xfrm>
            <a:off x="9921240" y="4937759"/>
            <a:ext cx="1691641" cy="822961"/>
          </a:xfrm>
          <a:prstGeom prst="roundRect">
            <a:avLst>
              <a:gd name="adj" fmla="val 8889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13"/>
          <p:cNvSpPr txBox="1"/>
          <p:nvPr/>
        </p:nvSpPr>
        <p:spPr>
          <a:xfrm>
            <a:off x="9921240" y="5203760"/>
            <a:ext cx="1691641" cy="290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b="1" sz="1400">
                <a:solidFill>
                  <a:srgbClr val="2B1D14"/>
                </a:solidFill>
              </a:defRPr>
            </a:lvl1pPr>
          </a:lstStyle>
          <a:p>
            <a:pPr/>
            <a:r>
              <a:t>6. Build audiobook</a:t>
            </a:r>
          </a:p>
        </p:txBody>
      </p:sp>
      <p:sp>
        <p:nvSpPr>
          <p:cNvPr id="111" name="Text 14"/>
          <p:cNvSpPr txBox="1"/>
          <p:nvPr/>
        </p:nvSpPr>
        <p:spPr>
          <a:xfrm>
            <a:off x="548639" y="607752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6B5647"/>
                </a:solidFill>
              </a:defRPr>
            </a:lvl1pPr>
          </a:lstStyle>
          <a:p>
            <a:pPr/>
            <a:r>
              <a:t>Unsure about a speaker? The line is marked “unknown”, read by the narrator and listed for review. Never guessed silently.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 txBox="1"/>
          <p:nvPr/>
        </p:nvSpPr>
        <p:spPr>
          <a:xfrm>
            <a:off x="548639" y="509270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14" name="Shape 1"/>
          <p:cNvSpPr/>
          <p:nvPr/>
        </p:nvSpPr>
        <p:spPr>
          <a:xfrm>
            <a:off x="548640" y="1463039"/>
            <a:ext cx="1691640" cy="2377441"/>
          </a:xfrm>
          <a:prstGeom prst="roundRect">
            <a:avLst>
              <a:gd name="adj" fmla="val 432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2"/>
          <p:cNvSpPr txBox="1"/>
          <p:nvPr/>
        </p:nvSpPr>
        <p:spPr>
          <a:xfrm>
            <a:off x="731519" y="1572767"/>
            <a:ext cx="1325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Ingest</a:t>
            </a:r>
          </a:p>
        </p:txBody>
      </p:sp>
      <p:sp>
        <p:nvSpPr>
          <p:cNvPr id="116" name="Text 3"/>
          <p:cNvSpPr txBox="1"/>
          <p:nvPr/>
        </p:nvSpPr>
        <p:spPr>
          <a:xfrm>
            <a:off x="731519" y="2057400"/>
            <a:ext cx="1325881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Ebook analysis, text extraction</a:t>
            </a:r>
          </a:p>
        </p:txBody>
      </p:sp>
      <p:sp>
        <p:nvSpPr>
          <p:cNvPr id="117" name="Shape 4"/>
          <p:cNvSpPr/>
          <p:nvPr/>
        </p:nvSpPr>
        <p:spPr>
          <a:xfrm>
            <a:off x="2423160" y="1463039"/>
            <a:ext cx="1691640" cy="2377441"/>
          </a:xfrm>
          <a:prstGeom prst="roundRect">
            <a:avLst>
              <a:gd name="adj" fmla="val 432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5"/>
          <p:cNvSpPr txBox="1"/>
          <p:nvPr/>
        </p:nvSpPr>
        <p:spPr>
          <a:xfrm>
            <a:off x="2606039" y="1572767"/>
            <a:ext cx="1325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Chunk</a:t>
            </a:r>
          </a:p>
        </p:txBody>
      </p:sp>
      <p:sp>
        <p:nvSpPr>
          <p:cNvPr id="119" name="Text 6"/>
          <p:cNvSpPr txBox="1"/>
          <p:nvPr/>
        </p:nvSpPr>
        <p:spPr>
          <a:xfrm>
            <a:off x="2606039" y="2057400"/>
            <a:ext cx="1325881" cy="646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Cleaning, chapters, dialogue spans</a:t>
            </a:r>
          </a:p>
        </p:txBody>
      </p:sp>
      <p:sp>
        <p:nvSpPr>
          <p:cNvPr id="120" name="Shape 7"/>
          <p:cNvSpPr/>
          <p:nvPr/>
        </p:nvSpPr>
        <p:spPr>
          <a:xfrm>
            <a:off x="4297679" y="1463039"/>
            <a:ext cx="1691641" cy="2377441"/>
          </a:xfrm>
          <a:prstGeom prst="roundRect">
            <a:avLst>
              <a:gd name="adj" fmla="val 432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8"/>
          <p:cNvSpPr txBox="1"/>
          <p:nvPr/>
        </p:nvSpPr>
        <p:spPr>
          <a:xfrm>
            <a:off x="4480559" y="1572767"/>
            <a:ext cx="1325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Attribute</a:t>
            </a:r>
          </a:p>
        </p:txBody>
      </p:sp>
      <p:sp>
        <p:nvSpPr>
          <p:cNvPr id="122" name="Text 9"/>
          <p:cNvSpPr txBox="1"/>
          <p:nvPr/>
        </p:nvSpPr>
        <p:spPr>
          <a:xfrm>
            <a:off x="4480559" y="2057400"/>
            <a:ext cx="1325881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Local LLM: who speaks</a:t>
            </a:r>
          </a:p>
        </p:txBody>
      </p:sp>
      <p:sp>
        <p:nvSpPr>
          <p:cNvPr id="123" name="Shape 10"/>
          <p:cNvSpPr/>
          <p:nvPr/>
        </p:nvSpPr>
        <p:spPr>
          <a:xfrm>
            <a:off x="6172200" y="1463039"/>
            <a:ext cx="1691640" cy="2377441"/>
          </a:xfrm>
          <a:prstGeom prst="roundRect">
            <a:avLst>
              <a:gd name="adj" fmla="val 4324"/>
            </a:avLst>
          </a:prstGeom>
          <a:solidFill>
            <a:srgbClr val="E4D6C4"/>
          </a:solidFill>
          <a:ln w="12700">
            <a:solidFill>
              <a:srgbClr val="E4D6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11"/>
          <p:cNvSpPr txBox="1"/>
          <p:nvPr/>
        </p:nvSpPr>
        <p:spPr>
          <a:xfrm>
            <a:off x="6355079" y="1572767"/>
            <a:ext cx="1325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Cast</a:t>
            </a:r>
          </a:p>
        </p:txBody>
      </p:sp>
      <p:sp>
        <p:nvSpPr>
          <p:cNvPr id="125" name="Text 12"/>
          <p:cNvSpPr txBox="1"/>
          <p:nvPr/>
        </p:nvSpPr>
        <p:spPr>
          <a:xfrm>
            <a:off x="6355079" y="2057400"/>
            <a:ext cx="1325881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Characters, aliases, voices</a:t>
            </a:r>
          </a:p>
        </p:txBody>
      </p:sp>
      <p:sp>
        <p:nvSpPr>
          <p:cNvPr id="126" name="Shape 13"/>
          <p:cNvSpPr/>
          <p:nvPr/>
        </p:nvSpPr>
        <p:spPr>
          <a:xfrm>
            <a:off x="8046719" y="1463039"/>
            <a:ext cx="1691641" cy="2377441"/>
          </a:xfrm>
          <a:prstGeom prst="roundRect">
            <a:avLst>
              <a:gd name="adj" fmla="val 432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14"/>
          <p:cNvSpPr txBox="1"/>
          <p:nvPr/>
        </p:nvSpPr>
        <p:spPr>
          <a:xfrm>
            <a:off x="8229600" y="1572767"/>
            <a:ext cx="1325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Synthesize</a:t>
            </a:r>
          </a:p>
        </p:txBody>
      </p:sp>
      <p:sp>
        <p:nvSpPr>
          <p:cNvPr id="128" name="Text 15"/>
          <p:cNvSpPr txBox="1"/>
          <p:nvPr/>
        </p:nvSpPr>
        <p:spPr>
          <a:xfrm>
            <a:off x="8229600" y="2057400"/>
            <a:ext cx="1325881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TTS agent: one WAV per line</a:t>
            </a:r>
          </a:p>
        </p:txBody>
      </p:sp>
      <p:sp>
        <p:nvSpPr>
          <p:cNvPr id="129" name="Shape 16"/>
          <p:cNvSpPr/>
          <p:nvPr/>
        </p:nvSpPr>
        <p:spPr>
          <a:xfrm>
            <a:off x="9921240" y="1463039"/>
            <a:ext cx="1691641" cy="2377441"/>
          </a:xfrm>
          <a:prstGeom prst="roundRect">
            <a:avLst>
              <a:gd name="adj" fmla="val 432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7"/>
          <p:cNvSpPr txBox="1"/>
          <p:nvPr/>
        </p:nvSpPr>
        <p:spPr>
          <a:xfrm>
            <a:off x="10104119" y="1572767"/>
            <a:ext cx="13258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Assemble</a:t>
            </a:r>
          </a:p>
        </p:txBody>
      </p:sp>
      <p:sp>
        <p:nvSpPr>
          <p:cNvPr id="131" name="Text 18"/>
          <p:cNvSpPr txBox="1"/>
          <p:nvPr/>
        </p:nvSpPr>
        <p:spPr>
          <a:xfrm>
            <a:off x="10104119" y="2057400"/>
            <a:ext cx="1325881" cy="417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Pauses, levels, MP3 + M4B</a:t>
            </a:r>
          </a:p>
        </p:txBody>
      </p:sp>
      <p:sp>
        <p:nvSpPr>
          <p:cNvPr id="132" name="Shape 19"/>
          <p:cNvSpPr/>
          <p:nvPr/>
        </p:nvSpPr>
        <p:spPr>
          <a:xfrm>
            <a:off x="548640" y="4114800"/>
            <a:ext cx="11064241" cy="822961"/>
          </a:xfrm>
          <a:prstGeom prst="roundRect">
            <a:avLst>
              <a:gd name="adj" fmla="val 8889"/>
            </a:avLst>
          </a:prstGeom>
          <a:solidFill>
            <a:srgbClr val="3B2416"/>
          </a:solidFill>
          <a:ln w="12700">
            <a:solidFill>
              <a:srgbClr val="3B24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20"/>
          <p:cNvSpPr txBox="1"/>
          <p:nvPr/>
        </p:nvSpPr>
        <p:spPr>
          <a:xfrm>
            <a:off x="731519" y="4421703"/>
            <a:ext cx="10698482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6F1"/>
                </a:solidFill>
              </a:defRPr>
            </a:lvl1pPr>
          </a:lstStyle>
          <a:p>
            <a:pPr/>
            <a:r>
              <a:t>Orchestrator + SQLite job state: every segment is saved, so a stopped run resumes without redoing work</a:t>
            </a:r>
          </a:p>
        </p:txBody>
      </p:sp>
      <p:sp>
        <p:nvSpPr>
          <p:cNvPr id="134" name="Shape 21"/>
          <p:cNvSpPr/>
          <p:nvPr/>
        </p:nvSpPr>
        <p:spPr>
          <a:xfrm>
            <a:off x="548640" y="5212079"/>
            <a:ext cx="5440680" cy="1188721"/>
          </a:xfrm>
          <a:prstGeom prst="roundRect">
            <a:avLst>
              <a:gd name="adj" fmla="val 615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22"/>
          <p:cNvSpPr txBox="1"/>
          <p:nvPr/>
        </p:nvSpPr>
        <p:spPr>
          <a:xfrm>
            <a:off x="731519" y="5321808"/>
            <a:ext cx="5074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Review gate after Cast</a:t>
            </a:r>
          </a:p>
        </p:txBody>
      </p:sp>
      <p:sp>
        <p:nvSpPr>
          <p:cNvPr id="136" name="Text 23"/>
          <p:cNvSpPr txBox="1"/>
          <p:nvPr/>
        </p:nvSpPr>
        <p:spPr>
          <a:xfrm>
            <a:off x="731519" y="5806440"/>
            <a:ext cx="507492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The user approves or edits the cast before any audio is recorded.</a:t>
            </a:r>
          </a:p>
        </p:txBody>
      </p:sp>
      <p:sp>
        <p:nvSpPr>
          <p:cNvPr id="137" name="Shape 24"/>
          <p:cNvSpPr/>
          <p:nvPr/>
        </p:nvSpPr>
        <p:spPr>
          <a:xfrm>
            <a:off x="6172200" y="5212079"/>
            <a:ext cx="5440680" cy="1188721"/>
          </a:xfrm>
          <a:prstGeom prst="roundRect">
            <a:avLst>
              <a:gd name="adj" fmla="val 6154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25"/>
          <p:cNvSpPr txBox="1"/>
          <p:nvPr/>
        </p:nvSpPr>
        <p:spPr>
          <a:xfrm>
            <a:off x="6355079" y="5321808"/>
            <a:ext cx="5074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One heavy model at a time</a:t>
            </a:r>
          </a:p>
        </p:txBody>
      </p:sp>
      <p:sp>
        <p:nvSpPr>
          <p:cNvPr id="139" name="Text 26"/>
          <p:cNvSpPr txBox="1"/>
          <p:nvPr/>
        </p:nvSpPr>
        <p:spPr>
          <a:xfrm>
            <a:off x="6355079" y="5806440"/>
            <a:ext cx="507492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2B1D14"/>
                </a:solidFill>
              </a:defRPr>
            </a:lvl1pPr>
          </a:lstStyle>
          <a:p>
            <a:pPr/>
            <a:r>
              <a:t>The LLM finishes and unloads before the voice model loads.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 txBox="1"/>
          <p:nvPr/>
        </p:nvSpPr>
        <p:spPr>
          <a:xfrm>
            <a:off x="548639" y="509270"/>
            <a:ext cx="1106424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Expected outcomes and how we will measure them</a:t>
            </a:r>
          </a:p>
        </p:txBody>
      </p:sp>
      <p:graphicFrame>
        <p:nvGraphicFramePr>
          <p:cNvPr id="142" name="Table 0"/>
          <p:cNvGraphicFramePr/>
          <p:nvPr/>
        </p:nvGraphicFramePr>
        <p:xfrm>
          <a:off x="548640" y="1371600"/>
          <a:ext cx="7040881" cy="384048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329184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2B1D14"/>
                          </a:solidFill>
                        </a:rPr>
                        <a:t>Outcome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2B1D14"/>
                          </a:solidFill>
                        </a:rPr>
                        <a:t>How we measure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EFE6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2B1D14"/>
                          </a:solidFill>
                        </a:rPr>
                        <a:t>Target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EFE6D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Right speaker per line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Accuracy on hand-labelled quotes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90% or higher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Chapter detection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Detected vs actual chapters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Reported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Speech accuracy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Speech recognition vs source text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Reported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Voice consistency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Same character, same voice in every chapter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Checked per book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Listening quality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Listener ratings: distinct, consistent, natural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Rating sheet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Speed and memory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Real-time factor, peak RAM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2B1D14"/>
                          </a:solidFill>
                        </a:rPr>
                        <a:t>Reported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D9CFC2"/>
                      </a:solidFill>
                    </a:lnL>
                    <a:lnR w="12700">
                      <a:solidFill>
                        <a:srgbClr val="D9CFC2"/>
                      </a:solidFill>
                    </a:lnR>
                    <a:lnT w="12700">
                      <a:solidFill>
                        <a:srgbClr val="D9CFC2"/>
                      </a:solidFill>
                    </a:lnT>
                    <a:lnB w="12700">
                      <a:solidFill>
                        <a:srgbClr val="D9CFC2"/>
                      </a:solidFill>
                    </a:lnB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143" name="Shape 1"/>
          <p:cNvSpPr/>
          <p:nvPr/>
        </p:nvSpPr>
        <p:spPr>
          <a:xfrm>
            <a:off x="7863840" y="1371600"/>
            <a:ext cx="3749041" cy="2240280"/>
          </a:xfrm>
          <a:prstGeom prst="roundRect">
            <a:avLst>
              <a:gd name="adj" fmla="val 3265"/>
            </a:avLst>
          </a:prstGeom>
          <a:solidFill>
            <a:srgbClr val="E4D6C4"/>
          </a:solidFill>
          <a:ln w="12700">
            <a:solidFill>
              <a:srgbClr val="E4D6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"/>
          <p:cNvSpPr txBox="1"/>
          <p:nvPr/>
        </p:nvSpPr>
        <p:spPr>
          <a:xfrm>
            <a:off x="8046719" y="1481327"/>
            <a:ext cx="33832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Built so far</a:t>
            </a:r>
          </a:p>
        </p:txBody>
      </p:sp>
      <p:sp>
        <p:nvSpPr>
          <p:cNvPr id="145" name="Text 3"/>
          <p:cNvSpPr txBox="1"/>
          <p:nvPr/>
        </p:nvSpPr>
        <p:spPr>
          <a:xfrm>
            <a:off x="8046719" y="1965960"/>
            <a:ext cx="3383281" cy="849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1D14"/>
                </a:solidFill>
              </a:defRPr>
            </a:pPr>
            <a:r>
              <a:t>Four input formats, chapters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1D14"/>
                </a:solidFill>
              </a:defRPr>
            </a:pPr>
            <a:r>
              <a:t>Narrator pipeline with resume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1D14"/>
                </a:solidFill>
              </a:defRPr>
            </a:pPr>
            <a:r>
              <a:t>Speaker detection with a local LLM</a:t>
            </a:r>
          </a:p>
        </p:txBody>
      </p:sp>
      <p:sp>
        <p:nvSpPr>
          <p:cNvPr id="146" name="Shape 4"/>
          <p:cNvSpPr/>
          <p:nvPr/>
        </p:nvSpPr>
        <p:spPr>
          <a:xfrm>
            <a:off x="7863840" y="3794759"/>
            <a:ext cx="3749041" cy="2240281"/>
          </a:xfrm>
          <a:prstGeom prst="roundRect">
            <a:avLst>
              <a:gd name="adj" fmla="val 3265"/>
            </a:avLst>
          </a:prstGeom>
          <a:solidFill>
            <a:srgbClr val="EFE6DA"/>
          </a:solidFill>
          <a:ln w="12700">
            <a:solidFill>
              <a:srgbClr val="EFE6D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5"/>
          <p:cNvSpPr txBox="1"/>
          <p:nvPr/>
        </p:nvSpPr>
        <p:spPr>
          <a:xfrm>
            <a:off x="8046719" y="3904488"/>
            <a:ext cx="338328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7B4A2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Next</a:t>
            </a:r>
          </a:p>
        </p:txBody>
      </p:sp>
      <p:sp>
        <p:nvSpPr>
          <p:cNvPr id="148" name="Text 6"/>
          <p:cNvSpPr txBox="1"/>
          <p:nvPr/>
        </p:nvSpPr>
        <p:spPr>
          <a:xfrm>
            <a:off x="8046719" y="4389120"/>
            <a:ext cx="3383281" cy="849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1D14"/>
                </a:solidFill>
              </a:defRPr>
            </a:pPr>
            <a:r>
              <a:t>Real-voice benchmark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1D14"/>
                </a:solidFill>
              </a:defRPr>
            </a:pPr>
            <a:r>
              <a:t>Hand-labelled test set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400">
                <a:solidFill>
                  <a:srgbClr val="2B1D14"/>
                </a:solidFill>
              </a:defRPr>
            </a:pPr>
            <a:r>
              <a:t>Casting and web interface</a:t>
            </a:r>
          </a:p>
        </p:txBody>
      </p:sp>
      <p:sp>
        <p:nvSpPr>
          <p:cNvPr id="149" name="Text 7"/>
          <p:cNvSpPr txBox="1"/>
          <p:nvPr/>
        </p:nvSpPr>
        <p:spPr>
          <a:xfrm>
            <a:off x="548639" y="6031800"/>
            <a:ext cx="11064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400">
                <a:solidFill>
                  <a:srgbClr val="6B5647"/>
                </a:solidFill>
              </a:defRPr>
            </a:lvl1pPr>
          </a:lstStyle>
          <a:p>
            <a:pPr/>
            <a:r>
              <a:t>Targets, not results yet. Nothing has been measured on real books so far.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3B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 txBox="1"/>
          <p:nvPr/>
        </p:nvSpPr>
        <p:spPr>
          <a:xfrm>
            <a:off x="731519" y="2037079"/>
            <a:ext cx="10698482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000">
                <a:solidFill>
                  <a:srgbClr val="F8F6F1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52" name="Text 1"/>
          <p:cNvSpPr txBox="1"/>
          <p:nvPr/>
        </p:nvSpPr>
        <p:spPr>
          <a:xfrm>
            <a:off x="731519" y="3317240"/>
            <a:ext cx="1069848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2800">
                <a:solidFill>
                  <a:srgbClr val="E3C9A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153" name="Text 2"/>
          <p:cNvSpPr txBox="1"/>
          <p:nvPr/>
        </p:nvSpPr>
        <p:spPr>
          <a:xfrm>
            <a:off x="731519" y="4862656"/>
            <a:ext cx="10698482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D9C3A8"/>
                </a:solidFill>
              </a:defRPr>
            </a:lvl1pPr>
          </a:lstStyle>
          <a:p>
            <a:pPr/>
            <a:r>
              <a:t>Akshat Rai  |  Divyanshu Bhusan  |  Guide: Dr. Naiyar Iqbal</a:t>
            </a:r>
          </a:p>
        </p:txBody>
      </p:sp>
      <p:sp>
        <p:nvSpPr>
          <p:cNvPr id="154" name="Text 3"/>
          <p:cNvSpPr txBox="1"/>
          <p:nvPr/>
        </p:nvSpPr>
        <p:spPr>
          <a:xfrm>
            <a:off x="731519" y="5391720"/>
            <a:ext cx="106984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D9C3A8"/>
                </a:solidFill>
              </a:defRPr>
            </a:lvl1pPr>
          </a:lstStyle>
          <a:p>
            <a:pPr/>
            <a:r>
              <a:t>Project-I (AI24300), B.Tech.-V CSE (AIML), BIT Mesra, Patna Campus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